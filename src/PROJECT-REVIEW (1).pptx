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 Medium" pitchFamily="2" charset="0"/>
      <p:regular r:id="rId13"/>
    </p:embeddedFon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85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143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DEB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598652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REVIEW 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93790" y="291703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Legal Document RAG System with Hallucination Reduction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5383530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Ishika Agrawal - 22BDS0245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Brian Thomas Mathew - 22BBS0108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Shubham Kumar - 22BCB0108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08F9EB-54EE-2454-A059-D08F6E3A65CD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0076"/>
            <a:ext cx="5978723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This System Exists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" y="1826657"/>
            <a:ext cx="8341519" cy="55609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3228" y="2071926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33228" y="2615684"/>
            <a:ext cx="4248150" cy="2026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Millions of Indians sign rent agreements, employment contracts, and loan documents without understanding the legal clauses inside them. Legal language is dense, technical, and inaccessible to non-lawyers.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633228" y="4874181"/>
            <a:ext cx="4248150" cy="2242185"/>
          </a:xfrm>
          <a:prstGeom prst="roundRect">
            <a:avLst>
              <a:gd name="adj" fmla="val 1446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9326" y="5198864"/>
            <a:ext cx="270153" cy="2160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35578" y="5134094"/>
            <a:ext cx="3329702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AI tools often </a:t>
            </a:r>
            <a:r>
              <a:rPr lang="en-US" sz="1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hallucinate</a:t>
            </a: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inventing fake section numbers or misquoting Acts — which is dangerous in a legal context.</a:t>
            </a:r>
            <a:endParaRPr lang="en-US" sz="1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CD3657-D5DD-A86C-B279-B9B774B7843A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32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Research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05770"/>
            <a:ext cx="4196358" cy="3120628"/>
          </a:xfrm>
          <a:prstGeom prst="roundRect">
            <a:avLst>
              <a:gd name="adj" fmla="val 4688"/>
            </a:avLst>
          </a:prstGeom>
          <a:solidFill>
            <a:srgbClr val="F9F8F5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27529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9656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F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313574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872746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Democratize Legal Understanding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71749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every clause of an uploaded document in Class 8 level English, accessible to any Indian citizen.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305770"/>
            <a:ext cx="4196358" cy="3120628"/>
          </a:xfrm>
          <a:prstGeom prst="roundRect">
            <a:avLst>
              <a:gd name="adj" fmla="val 4688"/>
            </a:avLst>
          </a:prstGeom>
          <a:solidFill>
            <a:srgbClr val="F9F8F5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327529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29656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F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313574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872746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Ground Every Answer in Real Law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471749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explanations must be traceable to actual Indian Acts indexed from IndiaCode — no outside knowledge.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305770"/>
            <a:ext cx="4196358" cy="3120628"/>
          </a:xfrm>
          <a:prstGeom prst="roundRect">
            <a:avLst>
              <a:gd name="adj" fmla="val 4688"/>
            </a:avLst>
          </a:prstGeom>
          <a:solidFill>
            <a:srgbClr val="F9F8F5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327529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29656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F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313574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3872746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 and Flag Hallucinations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471749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verify every AI-generated citation against the real Acts database and score each clause's reliability.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66AB9A-3EC5-852E-F15C-FBE608D7B677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DEB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" y="151448"/>
            <a:ext cx="5284470" cy="7926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3393" y="569119"/>
            <a:ext cx="6995517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Proposed System at a Glance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6193393" y="1470184"/>
            <a:ext cx="7730014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5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 Generation (RAG)</a:t>
            </a: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 that retrieves real Indian law sections before generating any explanation, then verifies every citation post-generation.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193393" y="2589133"/>
            <a:ext cx="7730014" cy="1132880"/>
          </a:xfrm>
          <a:prstGeom prst="roundRect">
            <a:avLst>
              <a:gd name="adj" fmla="val 2675"/>
            </a:avLst>
          </a:prstGeom>
          <a:solidFill>
            <a:srgbClr val="EDEBE3"/>
          </a:solidFill>
          <a:ln/>
        </p:spPr>
      </p:sp>
      <p:sp>
        <p:nvSpPr>
          <p:cNvPr id="7" name="Text 4"/>
          <p:cNvSpPr/>
          <p:nvPr/>
        </p:nvSpPr>
        <p:spPr>
          <a:xfrm>
            <a:off x="6395323" y="279106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📄</a:t>
            </a: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Upload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395323" y="3214568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 uploads a PDF (rent agreement, contract, etc.)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93393" y="3901916"/>
            <a:ext cx="7730014" cy="1132880"/>
          </a:xfrm>
          <a:prstGeom prst="roundRect">
            <a:avLst>
              <a:gd name="adj" fmla="val 2675"/>
            </a:avLst>
          </a:prstGeom>
          <a:solidFill>
            <a:srgbClr val="EDEBE3"/>
          </a:solidFill>
          <a:ln/>
        </p:spPr>
      </p:sp>
      <p:sp>
        <p:nvSpPr>
          <p:cNvPr id="10" name="Text 7"/>
          <p:cNvSpPr/>
          <p:nvPr/>
        </p:nvSpPr>
        <p:spPr>
          <a:xfrm>
            <a:off x="6395323" y="410384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🔍</a:t>
            </a: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Retrieve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395323" y="4527352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queries ChromaDB for relevant Indian Act sections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93393" y="5214699"/>
            <a:ext cx="7730014" cy="1132880"/>
          </a:xfrm>
          <a:prstGeom prst="roundRect">
            <a:avLst>
              <a:gd name="adj" fmla="val 2675"/>
            </a:avLst>
          </a:prstGeom>
          <a:solidFill>
            <a:srgbClr val="EDEBE3"/>
          </a:solidFill>
          <a:ln/>
        </p:spPr>
      </p:sp>
      <p:sp>
        <p:nvSpPr>
          <p:cNvPr id="13" name="Text 10"/>
          <p:cNvSpPr/>
          <p:nvPr/>
        </p:nvSpPr>
        <p:spPr>
          <a:xfrm>
            <a:off x="6395323" y="541662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🤖</a:t>
            </a: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Explain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395323" y="5840135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generates plain-English clause explanations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193393" y="6527483"/>
            <a:ext cx="7730014" cy="1132880"/>
          </a:xfrm>
          <a:prstGeom prst="roundRect">
            <a:avLst>
              <a:gd name="adj" fmla="val 2675"/>
            </a:avLst>
          </a:prstGeom>
          <a:solidFill>
            <a:srgbClr val="EDEBE3"/>
          </a:solidFill>
          <a:ln/>
        </p:spPr>
      </p:sp>
      <p:sp>
        <p:nvSpPr>
          <p:cNvPr id="16" name="Text 13"/>
          <p:cNvSpPr/>
          <p:nvPr/>
        </p:nvSpPr>
        <p:spPr>
          <a:xfrm>
            <a:off x="6395323" y="672941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✅</a:t>
            </a: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Verify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6395323" y="7152918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Post-generation check flags hallucinated citations</a:t>
            </a:r>
            <a:endParaRPr lang="en-US" sz="15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60E501-6DC4-F80A-606B-5161FF2D0AFB}"/>
              </a:ext>
            </a:extLst>
          </p:cNvPr>
          <p:cNvSpPr/>
          <p:nvPr/>
        </p:nvSpPr>
        <p:spPr>
          <a:xfrm>
            <a:off x="0" y="7768234"/>
            <a:ext cx="14630400" cy="46136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6509" y="405170"/>
            <a:ext cx="3455551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Architecture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509" y="1057989"/>
            <a:ext cx="2427684" cy="639913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79" y="1057989"/>
            <a:ext cx="5091113" cy="21990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74445" y="2703824"/>
            <a:ext cx="755942" cy="13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Extract Text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7374445" y="2880666"/>
            <a:ext cx="755942" cy="1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PDF with pdfplumber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9315509" y="2703824"/>
            <a:ext cx="755942" cy="13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Embed Clause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9315509" y="2880666"/>
            <a:ext cx="755942" cy="1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Gemini embeddings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6406323" y="1256421"/>
            <a:ext cx="755942" cy="13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Upload PDF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6406323" y="1433264"/>
            <a:ext cx="755942" cy="1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uploads the document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254795" y="1256421"/>
            <a:ext cx="755941" cy="275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Query ChromaDB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254795" y="1570944"/>
            <a:ext cx="755941" cy="1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relevant Indian Acts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357024" y="1256421"/>
            <a:ext cx="755942" cy="13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Split Clauses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357024" y="1433264"/>
            <a:ext cx="755942" cy="1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into individual clauses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5318998" y="3351728"/>
            <a:ext cx="677239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318998" y="3605332"/>
            <a:ext cx="677239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318998" y="3858935"/>
            <a:ext cx="6772394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ensures the LLM </a:t>
            </a:r>
            <a:r>
              <a:rPr lang="en-US" sz="10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answers from memory</a:t>
            </a: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Every explanation is grounded in retrieved Act sections and verified before reaching the user.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46509" y="7646432"/>
            <a:ext cx="9537383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73DBF7-F738-EF23-6168-387BF251E993}"/>
              </a:ext>
            </a:extLst>
          </p:cNvPr>
          <p:cNvSpPr/>
          <p:nvPr/>
        </p:nvSpPr>
        <p:spPr>
          <a:xfrm>
            <a:off x="0" y="7655858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764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Modules 1–2: Build the Knowledge Base &amp; Ingest Documents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72182"/>
            <a:ext cx="35013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1 — Acts Database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53326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 Acts are downloaded from </a:t>
            </a: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IndiaCode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chunked at the section level. Each chunk is stored in ChromaDB with metadata: Act name, section number, and domain (family, property, labour, corporate).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460087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804178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743575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</a:t>
            </a: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source of truth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system trusts.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3172182"/>
            <a:ext cx="45535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2 — Document Processing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9521" y="375332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uploads a PDF. </a:t>
            </a: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pdfplumber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extracts raw text, then splits it into numbered clauses. Each clause becomes an independent unit for retrieval and explanation.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5046107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1: Rent amount and due date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2: Termination notice period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3: Arbitration terms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C4B5E-7A37-5F46-5A90-8EBC6E2B5AE0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256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Modules 3–4: Retrieve Law &amp; Generate Explanation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67100"/>
            <a:ext cx="43466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3 — Retrieval (RAG Core)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4824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clause is embedded using </a:t>
            </a: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Embedding API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queried against ChromaDB. Top 3 relevant Act sections are returned before any text is generated.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467100"/>
            <a:ext cx="4550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4 — Grounded Generation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04824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+ retrieved sections are sent to </a:t>
            </a: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1.5 Flash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strict system prompt: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978122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at Class 8 English level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the provided law sections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 exact Act name and section number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law doesn't cover the clause, say so explicitly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DFC679-4C5C-6BCB-CCAB-48823C3F1471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50545"/>
            <a:ext cx="8604528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 5: Hallucination Verification Layer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381125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Gemini generates an explanation, the system </a:t>
            </a:r>
            <a:r>
              <a:rPr lang="en-US" sz="13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verifies every cited section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against the ChromaDB knowledge base.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23" y="1789271"/>
            <a:ext cx="12126516" cy="5229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67820" y="6026840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Assign Verdict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067820" y="4816358"/>
            <a:ext cx="2751094" cy="343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Compare Similarity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2067820" y="3618104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Lookup in ChromaDB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2067820" y="2407623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Extract Citations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201460" y="7174230"/>
            <a:ext cx="122273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post-generation check is the </a:t>
            </a:r>
            <a:r>
              <a:rPr lang="en-US" sz="13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novel contribution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this system — no standard RAG pipeline includes automatic citation validation against a legal database.</a:t>
            </a: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57A33A-B5E7-15CF-8DF3-0886DB0249B0}"/>
              </a:ext>
            </a:extLst>
          </p:cNvPr>
          <p:cNvSpPr/>
          <p:nvPr/>
        </p:nvSpPr>
        <p:spPr>
          <a:xfrm>
            <a:off x="0" y="7724775"/>
            <a:ext cx="14630400" cy="5048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102293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Four Layers of Hallucination Reduction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39082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Layer 1 — Retrieval Grounding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never answers from memory. It only sees retrieved Act sections.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39559"/>
            <a:ext cx="31556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Layer 2 — Strict Prompt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Explicitly forbids Gemini from using outside knowledge or fabricating citations.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43481"/>
            <a:ext cx="40332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Layer 3 — Citation Verification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cited section is auto-checked against ChromaDB. Hallucinated sections are flagged.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43481"/>
            <a:ext cx="37642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Layer 4 — Confidence Score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43389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clause gets a score: 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(all verified), 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Medium (partial), 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🚨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Low (hallucinated).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2E5622-793A-0860-B5F8-1F3CE691ABE3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7949"/>
            <a:ext cx="105350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 Stack &amp; Implementation Snapshot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137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 Choices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623185"/>
            <a:ext cx="6244709" cy="4613196"/>
          </a:xfrm>
          <a:prstGeom prst="roundRect">
            <a:avLst>
              <a:gd name="adj" fmla="val 73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343" y="277451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46828" y="277451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343" y="343245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Extraction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146828" y="343245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pdfplumber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343" y="409039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DB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146828" y="409039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8343" y="474833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146828" y="474833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Embedding API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28343" y="540627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146828" y="540627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1.5 Flash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28343" y="606421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146828" y="606421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Python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28343" y="672215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146828" y="672215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521" y="2013704"/>
            <a:ext cx="35650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Sample Output — Clause 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599521" y="2623185"/>
            <a:ext cx="6244709" cy="4116348"/>
          </a:xfrm>
          <a:prstGeom prst="roundRect">
            <a:avLst>
              <a:gd name="adj" fmla="val 827"/>
            </a:avLst>
          </a:prstGeom>
          <a:solidFill>
            <a:srgbClr val="B6FCB8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2967276"/>
            <a:ext cx="283488" cy="22681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36637" y="2906673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English: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Your landlord can ask you to leave with 15 days notice. Standard agreements require 30 days under Indian law.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8336637" y="4199453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Basis: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Transfer of Property Act 1882, Section 106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8336637" y="5129332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✅ Verified — Section 106 found, content matches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8336637" y="6059210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⚠️ Clause favors the landlord</a:t>
            </a:r>
            <a:endParaRPr lang="en-US" sz="17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1B6754-8B60-3CDE-F5F9-09B6CC2CE5D4}"/>
              </a:ext>
            </a:extLst>
          </p:cNvPr>
          <p:cNvSpPr/>
          <p:nvPr/>
        </p:nvSpPr>
        <p:spPr>
          <a:xfrm>
            <a:off x="0" y="7637929"/>
            <a:ext cx="14630400" cy="59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723</Words>
  <Application>Microsoft Office PowerPoint</Application>
  <PresentationFormat>Custom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Arial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Brian Mathew</cp:lastModifiedBy>
  <cp:revision>2</cp:revision>
  <dcterms:created xsi:type="dcterms:W3CDTF">2026-04-16T04:32:55Z</dcterms:created>
  <dcterms:modified xsi:type="dcterms:W3CDTF">2026-04-16T04:35:45Z</dcterms:modified>
</cp:coreProperties>
</file>